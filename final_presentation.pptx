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Garet Bold" charset="1" panose="00000000000000000000"/>
      <p:regular r:id="rId17"/>
    </p:embeddedFont>
    <p:embeddedFont>
      <p:font typeface="Garet" charset="1" panose="00000000000000000000"/>
      <p:regular r:id="rId18"/>
    </p:embeddedFont>
    <p:embeddedFont>
      <p:font typeface="Garet Bold Italics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659121">
            <a:off x="15091031" y="5585714"/>
            <a:ext cx="7629294" cy="7828566"/>
          </a:xfrm>
          <a:custGeom>
            <a:avLst/>
            <a:gdLst/>
            <a:ahLst/>
            <a:cxnLst/>
            <a:rect r="r" b="b" t="t" l="l"/>
            <a:pathLst>
              <a:path h="7828566" w="7629294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258071" y="-4629150"/>
            <a:ext cx="9022634" cy="9258300"/>
          </a:xfrm>
          <a:custGeom>
            <a:avLst/>
            <a:gdLst/>
            <a:ahLst/>
            <a:cxnLst/>
            <a:rect r="r" b="b" t="t" l="l"/>
            <a:pathLst>
              <a:path h="9258300" w="9022634">
                <a:moveTo>
                  <a:pt x="0" y="0"/>
                </a:moveTo>
                <a:lnTo>
                  <a:pt x="9022634" y="0"/>
                </a:lnTo>
                <a:lnTo>
                  <a:pt x="902263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883142" y="3202251"/>
            <a:ext cx="10587942" cy="3325852"/>
            <a:chOff x="0" y="0"/>
            <a:chExt cx="2044704" cy="64227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44704" cy="642276"/>
            </a:xfrm>
            <a:custGeom>
              <a:avLst/>
              <a:gdLst/>
              <a:ahLst/>
              <a:cxnLst/>
              <a:rect r="r" b="b" t="t" l="l"/>
              <a:pathLst>
                <a:path h="642276" w="2044704">
                  <a:moveTo>
                    <a:pt x="0" y="0"/>
                  </a:moveTo>
                  <a:lnTo>
                    <a:pt x="2044704" y="0"/>
                  </a:lnTo>
                  <a:lnTo>
                    <a:pt x="2044704" y="642276"/>
                  </a:lnTo>
                  <a:lnTo>
                    <a:pt x="0" y="6422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044704" cy="6613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132370" y="416028"/>
            <a:ext cx="2786223" cy="2786223"/>
          </a:xfrm>
          <a:custGeom>
            <a:avLst/>
            <a:gdLst/>
            <a:ahLst/>
            <a:cxnLst/>
            <a:rect r="r" b="b" t="t" l="l"/>
            <a:pathLst>
              <a:path h="2786223" w="2786223">
                <a:moveTo>
                  <a:pt x="0" y="0"/>
                </a:moveTo>
                <a:lnTo>
                  <a:pt x="2786223" y="0"/>
                </a:lnTo>
                <a:lnTo>
                  <a:pt x="2786223" y="2786223"/>
                </a:lnTo>
                <a:lnTo>
                  <a:pt x="0" y="27862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883142" y="3476209"/>
            <a:ext cx="10587942" cy="2802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8"/>
              </a:lnSpc>
            </a:pPr>
            <a:r>
              <a:rPr lang="en-US" b="true" sz="4063" spc="398">
                <a:solidFill>
                  <a:srgbClr val="231F20"/>
                </a:solidFill>
                <a:latin typeface="Garet Bold"/>
                <a:ea typeface="Garet Bold"/>
                <a:cs typeface="Garet Bold"/>
                <a:sym typeface="Garet Bold"/>
              </a:rPr>
              <a:t>A PREDICTIVE ANALYSIS FOR CUSTOMER RETENTION AND REVENUE OPTIMIZATION AT POWERCO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19596" y="7063181"/>
            <a:ext cx="12848809" cy="434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1"/>
              </a:lnSpc>
            </a:pPr>
            <a:r>
              <a:rPr lang="en-US" sz="2653" spc="140">
                <a:solidFill>
                  <a:srgbClr val="231F20"/>
                </a:solidFill>
                <a:latin typeface="Garet"/>
                <a:ea typeface="Garet"/>
                <a:cs typeface="Garet"/>
                <a:sym typeface="Garet"/>
              </a:rPr>
              <a:t>A BDM CAPSTONE PROJECT BY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19596" y="7592184"/>
            <a:ext cx="12848809" cy="891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1"/>
              </a:lnSpc>
            </a:pPr>
            <a:r>
              <a:rPr lang="en-US" b="true" sz="2653" spc="140">
                <a:solidFill>
                  <a:srgbClr val="231F20"/>
                </a:solidFill>
                <a:latin typeface="Garet Bold"/>
                <a:ea typeface="Garet Bold"/>
                <a:cs typeface="Garet Bold"/>
                <a:sym typeface="Garet Bold"/>
              </a:rPr>
              <a:t>KOHIL SHARMA</a:t>
            </a:r>
          </a:p>
          <a:p>
            <a:pPr algn="ctr">
              <a:lnSpc>
                <a:spcPts val="3661"/>
              </a:lnSpc>
            </a:pPr>
            <a:r>
              <a:rPr lang="en-US" b="true" sz="2653" spc="140">
                <a:solidFill>
                  <a:srgbClr val="231F20"/>
                </a:solidFill>
                <a:latin typeface="Garet Bold"/>
                <a:ea typeface="Garet Bold"/>
                <a:cs typeface="Garet Bold"/>
                <a:sym typeface="Garet Bold"/>
              </a:rPr>
              <a:t>22F3001103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7501" y="9184651"/>
            <a:ext cx="222809" cy="563548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612"/>
              </a:lnSpc>
              <a:spcBef>
                <a:spcPct val="0"/>
              </a:spcBef>
            </a:pPr>
            <a:r>
              <a:rPr lang="en-US" b="true" sz="3294">
                <a:solidFill>
                  <a:srgbClr val="231F20"/>
                </a:solidFill>
                <a:latin typeface="Garet Bold"/>
                <a:ea typeface="Garet Bold"/>
                <a:cs typeface="Garet Bold"/>
                <a:sym typeface="Garet Bol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659121">
            <a:off x="-4012602" y="5585714"/>
            <a:ext cx="7629294" cy="7828566"/>
          </a:xfrm>
          <a:custGeom>
            <a:avLst/>
            <a:gdLst/>
            <a:ahLst/>
            <a:cxnLst/>
            <a:rect r="r" b="b" t="t" l="l"/>
            <a:pathLst>
              <a:path h="7828566" w="7629294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019320" y="2901697"/>
            <a:ext cx="1400485" cy="4597992"/>
            <a:chOff x="0" y="0"/>
            <a:chExt cx="368852" cy="12109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8852" cy="1210994"/>
            </a:xfrm>
            <a:custGeom>
              <a:avLst/>
              <a:gdLst/>
              <a:ahLst/>
              <a:cxnLst/>
              <a:rect r="r" b="b" t="t" l="l"/>
              <a:pathLst>
                <a:path h="1210994" w="368852">
                  <a:moveTo>
                    <a:pt x="0" y="0"/>
                  </a:moveTo>
                  <a:lnTo>
                    <a:pt x="368852" y="0"/>
                  </a:lnTo>
                  <a:lnTo>
                    <a:pt x="368852" y="1210994"/>
                  </a:lnTo>
                  <a:lnTo>
                    <a:pt x="0" y="1210994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368852" cy="1230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980992" y="1259587"/>
            <a:ext cx="7416941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70"/>
              </a:lnSpc>
            </a:pPr>
            <a:r>
              <a:rPr lang="en-US" b="true" sz="6500" spc="637">
                <a:solidFill>
                  <a:srgbClr val="231F20"/>
                </a:solidFill>
                <a:latin typeface="Garet Bold"/>
                <a:ea typeface="Garet Bold"/>
                <a:cs typeface="Garet Bold"/>
                <a:sym typeface="Garet Bold"/>
              </a:rPr>
              <a:t>CONTENT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2016048">
            <a:off x="12243487" y="-1005305"/>
            <a:ext cx="10749463" cy="2687366"/>
          </a:xfrm>
          <a:custGeom>
            <a:avLst/>
            <a:gdLst/>
            <a:ahLst/>
            <a:cxnLst/>
            <a:rect r="r" b="b" t="t" l="l"/>
            <a:pathLst>
              <a:path h="2687366" w="10749463">
                <a:moveTo>
                  <a:pt x="0" y="0"/>
                </a:moveTo>
                <a:lnTo>
                  <a:pt x="10749463" y="0"/>
                </a:lnTo>
                <a:lnTo>
                  <a:pt x="10749463" y="2687365"/>
                </a:lnTo>
                <a:lnTo>
                  <a:pt x="0" y="26873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231353" y="3234710"/>
            <a:ext cx="937219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31353" y="4031829"/>
            <a:ext cx="937219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31353" y="4912986"/>
            <a:ext cx="937219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231353" y="5710105"/>
            <a:ext cx="937219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04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50954" y="6502482"/>
            <a:ext cx="937219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05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07430" y="3333137"/>
            <a:ext cx="8339202" cy="418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524" spc="247">
                <a:solidFill>
                  <a:srgbClr val="231F20"/>
                </a:solidFill>
                <a:latin typeface="Garet"/>
                <a:ea typeface="Garet"/>
                <a:cs typeface="Garet"/>
                <a:sym typeface="Garet"/>
              </a:rPr>
              <a:t>ABOUT ORGANIZATION AND THE PROBLEMS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07430" y="4127355"/>
            <a:ext cx="8339202" cy="418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524" spc="247">
                <a:solidFill>
                  <a:srgbClr val="231F20"/>
                </a:solidFill>
                <a:latin typeface="Garet"/>
                <a:ea typeface="Garet"/>
                <a:cs typeface="Garet"/>
                <a:sym typeface="Garet"/>
              </a:rPr>
              <a:t>DATA COLLECTION AND OBSERVATIONS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07430" y="5047445"/>
            <a:ext cx="5790503" cy="418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3"/>
              </a:lnSpc>
              <a:spcBef>
                <a:spcPct val="0"/>
              </a:spcBef>
            </a:pPr>
            <a:r>
              <a:rPr lang="en-US" sz="2524" spc="247">
                <a:solidFill>
                  <a:srgbClr val="231F20"/>
                </a:solidFill>
                <a:latin typeface="Garet"/>
                <a:ea typeface="Garet"/>
                <a:cs typeface="Garet"/>
                <a:sym typeface="Garet"/>
              </a:rPr>
              <a:t>GRAPHICAL ANALYSIS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07430" y="5841663"/>
            <a:ext cx="6076629" cy="418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3"/>
              </a:lnSpc>
              <a:spcBef>
                <a:spcPct val="0"/>
              </a:spcBef>
            </a:pPr>
            <a:r>
              <a:rPr lang="en-US" sz="2524" spc="247">
                <a:solidFill>
                  <a:srgbClr val="231F20"/>
                </a:solidFill>
                <a:latin typeface="Garet"/>
                <a:ea typeface="Garet"/>
                <a:cs typeface="Garet"/>
                <a:sym typeface="Garet"/>
              </a:rPr>
              <a:t>RESULTS AND FINDINGS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07430" y="6642507"/>
            <a:ext cx="6076629" cy="418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3"/>
              </a:lnSpc>
              <a:spcBef>
                <a:spcPct val="0"/>
              </a:spcBef>
            </a:pPr>
            <a:r>
              <a:rPr lang="en-US" sz="2524" spc="247">
                <a:solidFill>
                  <a:srgbClr val="231F20"/>
                </a:solidFill>
                <a:latin typeface="Garet"/>
                <a:ea typeface="Garet"/>
                <a:cs typeface="Garet"/>
                <a:sym typeface="Garet"/>
              </a:rPr>
              <a:t>RECOMMENDATIONS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7501" y="9184651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612"/>
              </a:lnSpc>
              <a:spcBef>
                <a:spcPct val="0"/>
              </a:spcBef>
            </a:pPr>
            <a:r>
              <a:rPr lang="en-US" b="true" sz="3294">
                <a:solidFill>
                  <a:srgbClr val="231F20"/>
                </a:solidFill>
                <a:latin typeface="Garet Bold"/>
                <a:ea typeface="Garet Bold"/>
                <a:cs typeface="Garet Bold"/>
                <a:sym typeface="Garet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3086100"/>
            <a:chOff x="0" y="0"/>
            <a:chExt cx="4816593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812800"/>
            </a:xfrm>
            <a:custGeom>
              <a:avLst/>
              <a:gdLst/>
              <a:ahLst/>
              <a:cxnLst/>
              <a:rect r="r" b="b" t="t" l="l"/>
              <a:pathLst>
                <a:path h="8128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816593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4398939" y="-4729397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504979" y="-3442596"/>
            <a:ext cx="6709932" cy="6885191"/>
          </a:xfrm>
          <a:custGeom>
            <a:avLst/>
            <a:gdLst/>
            <a:ahLst/>
            <a:cxnLst/>
            <a:rect r="r" b="b" t="t" l="l"/>
            <a:pathLst>
              <a:path h="6885191" w="6709932">
                <a:moveTo>
                  <a:pt x="0" y="0"/>
                </a:moveTo>
                <a:lnTo>
                  <a:pt x="6709932" y="0"/>
                </a:lnTo>
                <a:lnTo>
                  <a:pt x="6709932" y="6885192"/>
                </a:lnTo>
                <a:lnTo>
                  <a:pt x="0" y="68851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690980" y="638526"/>
            <a:ext cx="10906040" cy="1723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42"/>
              </a:lnSpc>
            </a:pPr>
            <a:r>
              <a:rPr lang="en-US" b="true" sz="5030" spc="493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ABOUT ORGANIZATION </a:t>
            </a:r>
          </a:p>
          <a:p>
            <a:pPr algn="ctr">
              <a:lnSpc>
                <a:spcPts val="6942"/>
              </a:lnSpc>
            </a:pPr>
            <a:r>
              <a:rPr lang="en-US" b="true" sz="5030" spc="493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AND THE PROBLEMS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0906" y="3785679"/>
            <a:ext cx="15766188" cy="470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b="true" sz="2499" spc="244">
                <a:solidFill>
                  <a:srgbClr val="231F20"/>
                </a:solidFill>
                <a:latin typeface="Garet Bold"/>
                <a:ea typeface="Garet Bold"/>
                <a:cs typeface="Garet Bold"/>
                <a:sym typeface="Garet Bold"/>
              </a:rPr>
              <a:t>PowerCo </a:t>
            </a:r>
            <a:r>
              <a:rPr lang="en-US" sz="2499" spc="244">
                <a:solidFill>
                  <a:srgbClr val="231F20"/>
                </a:solidFill>
                <a:latin typeface="Garet"/>
                <a:ea typeface="Garet"/>
                <a:cs typeface="Garet"/>
                <a:sym typeface="Garet"/>
              </a:rPr>
              <a:t>is a New Zealand utility provider offering gas and electricity services to residential </a:t>
            </a:r>
            <a:r>
              <a:rPr lang="en-US" sz="2499" spc="244">
                <a:solidFill>
                  <a:srgbClr val="231F20"/>
                </a:solidFill>
                <a:latin typeface="Garet"/>
                <a:ea typeface="Garet"/>
                <a:cs typeface="Garet"/>
                <a:sym typeface="Garet"/>
              </a:rPr>
              <a:t>customers, small and medium enterprises (SMEs), and corporations. Serving both B2C and B2B markets, it</a:t>
            </a:r>
            <a:r>
              <a:rPr lang="en-US" b="true" sz="2499" spc="244">
                <a:solidFill>
                  <a:srgbClr val="231F20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  <a:r>
              <a:rPr lang="en-US" sz="2499" spc="244">
                <a:solidFill>
                  <a:srgbClr val="231F20"/>
                </a:solidFill>
                <a:latin typeface="Garet"/>
                <a:ea typeface="Garet"/>
                <a:cs typeface="Garet"/>
                <a:sym typeface="Garet"/>
              </a:rPr>
              <a:t>is a prominent player in the energy sector.</a:t>
            </a:r>
          </a:p>
          <a:p>
            <a:pPr algn="l">
              <a:lnSpc>
                <a:spcPts val="3449"/>
              </a:lnSpc>
            </a:pPr>
          </a:p>
          <a:p>
            <a:pPr algn="l">
              <a:lnSpc>
                <a:spcPts val="3449"/>
              </a:lnSpc>
            </a:pPr>
            <a:r>
              <a:rPr lang="en-US" sz="2499" spc="244">
                <a:solidFill>
                  <a:srgbClr val="231F20"/>
                </a:solidFill>
                <a:latin typeface="Garet"/>
                <a:ea typeface="Garet"/>
                <a:cs typeface="Garet"/>
                <a:sym typeface="Garet"/>
              </a:rPr>
              <a:t>They are facing two major challenges: </a:t>
            </a:r>
          </a:p>
          <a:p>
            <a:pPr algn="l">
              <a:lnSpc>
                <a:spcPts val="3449"/>
              </a:lnSpc>
            </a:pPr>
            <a:r>
              <a:rPr lang="en-US" sz="2499" spc="244">
                <a:solidFill>
                  <a:srgbClr val="231F2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</a:p>
          <a:p>
            <a:pPr algn="l" marL="1079499" indent="-359833" lvl="2">
              <a:lnSpc>
                <a:spcPts val="3449"/>
              </a:lnSpc>
              <a:buFont typeface="Arial"/>
              <a:buChar char="⚬"/>
            </a:pPr>
            <a:r>
              <a:rPr lang="en-US" sz="2499" spc="244">
                <a:solidFill>
                  <a:srgbClr val="231F20"/>
                </a:solidFill>
                <a:latin typeface="Garet"/>
                <a:ea typeface="Garet"/>
                <a:cs typeface="Garet"/>
                <a:sym typeface="Garet"/>
              </a:rPr>
              <a:t>Customer churn among small and medium enterprises (SMEs)</a:t>
            </a:r>
            <a:r>
              <a:rPr lang="en-US" sz="2499" spc="244">
                <a:solidFill>
                  <a:srgbClr val="231F20"/>
                </a:solidFill>
                <a:latin typeface="Garet"/>
                <a:ea typeface="Garet"/>
                <a:cs typeface="Garet"/>
                <a:sym typeface="Garet"/>
              </a:rPr>
              <a:t> due to strong       competition in the open energy market.</a:t>
            </a:r>
          </a:p>
          <a:p>
            <a:pPr algn="l">
              <a:lnSpc>
                <a:spcPts val="3449"/>
              </a:lnSpc>
            </a:pPr>
          </a:p>
          <a:p>
            <a:pPr algn="l" marL="1079499" indent="-359833" lvl="2">
              <a:lnSpc>
                <a:spcPts val="3449"/>
              </a:lnSpc>
              <a:buFont typeface="Arial"/>
              <a:buChar char="⚬"/>
            </a:pPr>
            <a:r>
              <a:rPr lang="en-US" sz="2499" spc="244">
                <a:solidFill>
                  <a:srgbClr val="231F20"/>
                </a:solidFill>
                <a:latin typeface="Garet"/>
                <a:ea typeface="Garet"/>
                <a:cs typeface="Garet"/>
                <a:sym typeface="Garet"/>
              </a:rPr>
              <a:t>Revenue instability caused by seasonal energy demand.</a:t>
            </a:r>
          </a:p>
          <a:p>
            <a:pPr algn="l">
              <a:lnSpc>
                <a:spcPts val="344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97501" y="9184651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612"/>
              </a:lnSpc>
              <a:spcBef>
                <a:spcPct val="0"/>
              </a:spcBef>
            </a:pPr>
            <a:r>
              <a:rPr lang="en-US" b="true" sz="3294">
                <a:solidFill>
                  <a:srgbClr val="231F20"/>
                </a:solidFill>
                <a:latin typeface="Garet Bold"/>
                <a:ea typeface="Garet Bold"/>
                <a:cs typeface="Garet Bold"/>
                <a:sym typeface="Garet 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97389" y="4975616"/>
            <a:ext cx="14093222" cy="1032847"/>
          </a:xfrm>
          <a:custGeom>
            <a:avLst/>
            <a:gdLst/>
            <a:ahLst/>
            <a:cxnLst/>
            <a:rect r="r" b="b" t="t" l="l"/>
            <a:pathLst>
              <a:path h="1032847" w="14093222">
                <a:moveTo>
                  <a:pt x="0" y="0"/>
                </a:moveTo>
                <a:lnTo>
                  <a:pt x="14093222" y="0"/>
                </a:lnTo>
                <a:lnTo>
                  <a:pt x="14093222" y="1032848"/>
                </a:lnTo>
                <a:lnTo>
                  <a:pt x="0" y="10328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47238" r="0" b="-2225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835984" y="3180424"/>
            <a:ext cx="14616032" cy="2311616"/>
            <a:chOff x="0" y="0"/>
            <a:chExt cx="5600034" cy="8856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00034" cy="885680"/>
            </a:xfrm>
            <a:custGeom>
              <a:avLst/>
              <a:gdLst/>
              <a:ahLst/>
              <a:cxnLst/>
              <a:rect r="r" b="b" t="t" l="l"/>
              <a:pathLst>
                <a:path h="885680" w="5600034">
                  <a:moveTo>
                    <a:pt x="0" y="0"/>
                  </a:moveTo>
                  <a:lnTo>
                    <a:pt x="5600034" y="0"/>
                  </a:lnTo>
                  <a:lnTo>
                    <a:pt x="5600034" y="885680"/>
                  </a:lnTo>
                  <a:lnTo>
                    <a:pt x="0" y="885680"/>
                  </a:ln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600034" cy="904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879221" y="621647"/>
            <a:ext cx="10529557" cy="1741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3"/>
              </a:lnSpc>
            </a:pPr>
            <a:r>
              <a:rPr lang="en-US" b="true" sz="5082" spc="498">
                <a:solidFill>
                  <a:srgbClr val="231F20"/>
                </a:solidFill>
                <a:latin typeface="Garet Bold"/>
                <a:ea typeface="Garet Bold"/>
                <a:cs typeface="Garet Bold"/>
                <a:sym typeface="Garet Bold"/>
              </a:rPr>
              <a:t>DATA COLLECTION </a:t>
            </a:r>
          </a:p>
          <a:p>
            <a:pPr algn="ctr">
              <a:lnSpc>
                <a:spcPts val="7013"/>
              </a:lnSpc>
            </a:pPr>
            <a:r>
              <a:rPr lang="en-US" b="true" sz="5082" spc="498">
                <a:solidFill>
                  <a:srgbClr val="231F20"/>
                </a:solidFill>
                <a:latin typeface="Garet Bold"/>
                <a:ea typeface="Garet Bold"/>
                <a:cs typeface="Garet Bold"/>
                <a:sym typeface="Garet Bold"/>
              </a:rPr>
              <a:t>AND OBSERVATIONS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35206" y="3435542"/>
            <a:ext cx="13781135" cy="1892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0"/>
              </a:lnSpc>
            </a:pPr>
            <a:r>
              <a:rPr lang="en-US" sz="2210" spc="216" b="true">
                <a:solidFill>
                  <a:srgbClr val="231F20"/>
                </a:solidFill>
                <a:latin typeface="Garet Bold"/>
                <a:ea typeface="Garet Bold"/>
                <a:cs typeface="Garet Bold"/>
                <a:sym typeface="Garet Bold"/>
              </a:rPr>
              <a:t>Customer Data</a:t>
            </a:r>
            <a:r>
              <a:rPr lang="en-US" sz="2210" spc="216">
                <a:solidFill>
                  <a:srgbClr val="231F20"/>
                </a:solidFill>
                <a:latin typeface="Garet"/>
                <a:ea typeface="Garet"/>
                <a:cs typeface="Garet"/>
                <a:sym typeface="Garet"/>
              </a:rPr>
              <a:t>: Information on customer demographics, industry type, </a:t>
            </a:r>
            <a:r>
              <a:rPr lang="en-US" sz="2210" spc="216">
                <a:solidFill>
                  <a:srgbClr val="231F20"/>
                </a:solidFill>
                <a:latin typeface="Garet"/>
                <a:ea typeface="Garet"/>
                <a:cs typeface="Garet"/>
                <a:sym typeface="Garet"/>
              </a:rPr>
              <a:t>contract length, energy consumption history, and tenure with PowerCo.</a:t>
            </a:r>
          </a:p>
          <a:p>
            <a:pPr algn="l">
              <a:lnSpc>
                <a:spcPts val="3050"/>
              </a:lnSpc>
            </a:pPr>
          </a:p>
          <a:p>
            <a:pPr algn="l" marL="0" indent="0" lvl="0">
              <a:lnSpc>
                <a:spcPts val="3050"/>
              </a:lnSpc>
              <a:spcBef>
                <a:spcPct val="0"/>
              </a:spcBef>
            </a:pPr>
            <a:r>
              <a:rPr lang="en-US" b="true" sz="2210" spc="216">
                <a:solidFill>
                  <a:srgbClr val="231F20"/>
                </a:solidFill>
                <a:latin typeface="Garet Bold"/>
                <a:ea typeface="Garet Bold"/>
                <a:cs typeface="Garet Bold"/>
                <a:sym typeface="Garet Bold"/>
              </a:rPr>
              <a:t>Pricing Data</a:t>
            </a:r>
            <a:r>
              <a:rPr lang="en-US" sz="2210" spc="216">
                <a:solidFill>
                  <a:srgbClr val="231F20"/>
                </a:solidFill>
                <a:latin typeface="Garet"/>
                <a:ea typeface="Garet"/>
                <a:cs typeface="Garet"/>
                <a:sym typeface="Garet"/>
              </a:rPr>
              <a:t>: Historical pricing data, capturing any fluctuations in energy  costs that customers may have experienced over time, to assess its impact on churn.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2779578" y="7341318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97501" y="9184651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612"/>
              </a:lnSpc>
              <a:spcBef>
                <a:spcPct val="0"/>
              </a:spcBef>
            </a:pPr>
            <a:r>
              <a:rPr lang="en-US" b="true" sz="3294">
                <a:solidFill>
                  <a:srgbClr val="231F20"/>
                </a:solidFill>
                <a:latin typeface="Garet Bold"/>
                <a:ea typeface="Garet Bold"/>
                <a:cs typeface="Garet Bold"/>
                <a:sym typeface="Garet Bold"/>
              </a:rPr>
              <a:t>4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160010" y="7772452"/>
            <a:ext cx="12110901" cy="1032847"/>
          </a:xfrm>
          <a:custGeom>
            <a:avLst/>
            <a:gdLst/>
            <a:ahLst/>
            <a:cxnLst/>
            <a:rect r="r" b="b" t="t" l="l"/>
            <a:pathLst>
              <a:path h="1032847" w="12110901">
                <a:moveTo>
                  <a:pt x="0" y="0"/>
                </a:moveTo>
                <a:lnTo>
                  <a:pt x="12110901" y="0"/>
                </a:lnTo>
                <a:lnTo>
                  <a:pt x="12110901" y="1032847"/>
                </a:lnTo>
                <a:lnTo>
                  <a:pt x="0" y="10328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9495" r="0" b="-12088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3160010" y="6057969"/>
            <a:ext cx="12110901" cy="2230906"/>
            <a:chOff x="0" y="0"/>
            <a:chExt cx="4640210" cy="85475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40210" cy="854757"/>
            </a:xfrm>
            <a:custGeom>
              <a:avLst/>
              <a:gdLst/>
              <a:ahLst/>
              <a:cxnLst/>
              <a:rect r="r" b="b" t="t" l="l"/>
              <a:pathLst>
                <a:path h="854757" w="4640210">
                  <a:moveTo>
                    <a:pt x="0" y="0"/>
                  </a:moveTo>
                  <a:lnTo>
                    <a:pt x="4640210" y="0"/>
                  </a:lnTo>
                  <a:lnTo>
                    <a:pt x="4640210" y="854757"/>
                  </a:lnTo>
                  <a:lnTo>
                    <a:pt x="0" y="854757"/>
                  </a:lnTo>
                  <a:close/>
                </a:path>
              </a:pathLst>
            </a:custGeom>
            <a:solidFill>
              <a:srgbClr val="EFEFE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4640210" cy="8738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324933" y="6215673"/>
            <a:ext cx="11781056" cy="1892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7229" indent="-238614" lvl="1">
              <a:lnSpc>
                <a:spcPts val="3050"/>
              </a:lnSpc>
              <a:buFont typeface="Arial"/>
              <a:buChar char="•"/>
            </a:pPr>
            <a:r>
              <a:rPr lang="en-US" sz="2210" spc="216">
                <a:solidFill>
                  <a:srgbClr val="231F20"/>
                </a:solidFill>
                <a:latin typeface="Garet"/>
                <a:ea typeface="Garet"/>
                <a:cs typeface="Garet"/>
                <a:sym typeface="Garet"/>
              </a:rPr>
              <a:t>75% of customers have no gas consumption.</a:t>
            </a:r>
          </a:p>
          <a:p>
            <a:pPr algn="l" marL="477229" indent="-238614" lvl="1">
              <a:lnSpc>
                <a:spcPts val="3050"/>
              </a:lnSpc>
              <a:buFont typeface="Arial"/>
              <a:buChar char="•"/>
            </a:pPr>
            <a:r>
              <a:rPr lang="en-US" sz="2210" spc="216">
                <a:solidFill>
                  <a:srgbClr val="231F20"/>
                </a:solidFill>
                <a:latin typeface="Garet"/>
                <a:ea typeface="Garet"/>
                <a:cs typeface="Garet"/>
                <a:sym typeface="Garet"/>
              </a:rPr>
              <a:t>High skewness, with a few customers consuming significantly more electricity than the majority.</a:t>
            </a:r>
          </a:p>
          <a:p>
            <a:pPr algn="l" marL="477229" indent="-238614" lvl="1">
              <a:lnSpc>
                <a:spcPts val="3050"/>
              </a:lnSpc>
              <a:buFont typeface="Arial"/>
              <a:buChar char="•"/>
            </a:pPr>
            <a:r>
              <a:rPr lang="en-US" sz="2210" spc="216">
                <a:solidFill>
                  <a:srgbClr val="231F20"/>
                </a:solidFill>
                <a:latin typeface="Garet"/>
                <a:ea typeface="Garet"/>
                <a:cs typeface="Garet"/>
                <a:sym typeface="Garet"/>
              </a:rPr>
              <a:t>Most customers have been with the company for 4–6 years, indicating loyalty.</a:t>
            </a:r>
          </a:p>
        </p:txBody>
      </p:sp>
      <p:sp>
        <p:nvSpPr>
          <p:cNvPr name="AutoShape 16" id="16"/>
          <p:cNvSpPr/>
          <p:nvPr/>
        </p:nvSpPr>
        <p:spPr>
          <a:xfrm>
            <a:off x="5969341" y="2427949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79722" y="-4950359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6"/>
                </a:lnTo>
                <a:lnTo>
                  <a:pt x="0" y="78154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4176364">
            <a:off x="-4105129" y="6530238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6"/>
                </a:lnTo>
                <a:lnTo>
                  <a:pt x="0" y="78154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50197" y="2329666"/>
            <a:ext cx="3044597" cy="3619049"/>
          </a:xfrm>
          <a:custGeom>
            <a:avLst/>
            <a:gdLst/>
            <a:ahLst/>
            <a:cxnLst/>
            <a:rect r="r" b="b" t="t" l="l"/>
            <a:pathLst>
              <a:path h="3619049" w="3044597">
                <a:moveTo>
                  <a:pt x="0" y="0"/>
                </a:moveTo>
                <a:lnTo>
                  <a:pt x="3044597" y="0"/>
                </a:lnTo>
                <a:lnTo>
                  <a:pt x="3044597" y="3619049"/>
                </a:lnTo>
                <a:lnTo>
                  <a:pt x="0" y="36190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420201" y="5002122"/>
            <a:ext cx="7615322" cy="5007951"/>
          </a:xfrm>
          <a:custGeom>
            <a:avLst/>
            <a:gdLst/>
            <a:ahLst/>
            <a:cxnLst/>
            <a:rect r="r" b="b" t="t" l="l"/>
            <a:pathLst>
              <a:path h="5007951" w="7615322">
                <a:moveTo>
                  <a:pt x="0" y="0"/>
                </a:moveTo>
                <a:lnTo>
                  <a:pt x="7615322" y="0"/>
                </a:lnTo>
                <a:lnTo>
                  <a:pt x="7615322" y="5007950"/>
                </a:lnTo>
                <a:lnTo>
                  <a:pt x="0" y="50079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4693037" y="4849642"/>
            <a:ext cx="1806769" cy="587716"/>
          </a:xfrm>
          <a:custGeom>
            <a:avLst/>
            <a:gdLst/>
            <a:ahLst/>
            <a:cxnLst/>
            <a:rect r="r" b="b" t="t" l="l"/>
            <a:pathLst>
              <a:path h="587716" w="1806769">
                <a:moveTo>
                  <a:pt x="0" y="587716"/>
                </a:moveTo>
                <a:lnTo>
                  <a:pt x="1806768" y="587716"/>
                </a:lnTo>
                <a:lnTo>
                  <a:pt x="1806768" y="0"/>
                </a:lnTo>
                <a:lnTo>
                  <a:pt x="0" y="0"/>
                </a:lnTo>
                <a:lnTo>
                  <a:pt x="0" y="587716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7964055" y="8663043"/>
            <a:ext cx="2068749" cy="588283"/>
          </a:xfrm>
          <a:custGeom>
            <a:avLst/>
            <a:gdLst/>
            <a:ahLst/>
            <a:cxnLst/>
            <a:rect r="r" b="b" t="t" l="l"/>
            <a:pathLst>
              <a:path h="588283" w="2068749">
                <a:moveTo>
                  <a:pt x="0" y="588283"/>
                </a:moveTo>
                <a:lnTo>
                  <a:pt x="2068748" y="588283"/>
                </a:lnTo>
                <a:lnTo>
                  <a:pt x="2068748" y="0"/>
                </a:lnTo>
                <a:lnTo>
                  <a:pt x="0" y="0"/>
                </a:lnTo>
                <a:lnTo>
                  <a:pt x="0" y="588283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367511" y="572041"/>
            <a:ext cx="11552977" cy="837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65"/>
              </a:lnSpc>
            </a:pPr>
            <a:r>
              <a:rPr lang="en-US" b="true" sz="5047" spc="267">
                <a:solidFill>
                  <a:srgbClr val="231F20"/>
                </a:solidFill>
                <a:latin typeface="Garet Bold"/>
                <a:ea typeface="Garet Bold"/>
                <a:cs typeface="Garet Bold"/>
                <a:sym typeface="Garet Bold"/>
              </a:rPr>
              <a:t>GRAPHICAL 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7501" y="9184651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612"/>
              </a:lnSpc>
              <a:spcBef>
                <a:spcPct val="0"/>
              </a:spcBef>
            </a:pPr>
            <a:r>
              <a:rPr lang="en-US" b="true" sz="3294">
                <a:solidFill>
                  <a:srgbClr val="231F20"/>
                </a:solidFill>
                <a:latin typeface="Garet Bold"/>
                <a:ea typeface="Garet Bold"/>
                <a:cs typeface="Garet Bold"/>
                <a:sym typeface="Garet Bold"/>
              </a:rPr>
              <a:t>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693037" y="2553816"/>
            <a:ext cx="11329454" cy="216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0660" indent="-240330" lvl="1">
              <a:lnSpc>
                <a:spcPts val="2894"/>
              </a:lnSpc>
              <a:buFont typeface="Arial"/>
              <a:buChar char="•"/>
            </a:pPr>
            <a:r>
              <a:rPr lang="en-US" sz="2226">
                <a:solidFill>
                  <a:srgbClr val="231F20"/>
                </a:solidFill>
                <a:latin typeface="Garet"/>
                <a:ea typeface="Garet"/>
                <a:cs typeface="Garet"/>
                <a:sym typeface="Garet"/>
              </a:rPr>
              <a:t>Most customers are retained, but the 10% churned group needs targeted </a:t>
            </a:r>
            <a:r>
              <a:rPr lang="en-US" sz="2226">
                <a:solidFill>
                  <a:srgbClr val="231F20"/>
                </a:solidFill>
                <a:latin typeface="Garet"/>
                <a:ea typeface="Garet"/>
                <a:cs typeface="Garet"/>
                <a:sym typeface="Garet"/>
              </a:rPr>
              <a:t>retention strategies.</a:t>
            </a:r>
          </a:p>
          <a:p>
            <a:pPr algn="l">
              <a:lnSpc>
                <a:spcPts val="2894"/>
              </a:lnSpc>
            </a:pPr>
          </a:p>
          <a:p>
            <a:pPr algn="l" marL="480660" indent="-240330" lvl="1">
              <a:lnSpc>
                <a:spcPts val="2894"/>
              </a:lnSpc>
              <a:buFont typeface="Arial"/>
              <a:buChar char="•"/>
            </a:pPr>
            <a:r>
              <a:rPr lang="en-US" sz="2226">
                <a:solidFill>
                  <a:srgbClr val="231F20"/>
                </a:solidFill>
                <a:latin typeface="Garet"/>
                <a:ea typeface="Garet"/>
                <a:cs typeface="Garet"/>
                <a:sym typeface="Garet"/>
              </a:rPr>
              <a:t>While the churn rate appears low, this percentage could represent a significant revenue impact, especially if high-margin customers are included in this group.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18425" y="6726900"/>
            <a:ext cx="8214378" cy="1800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0660" indent="-240330" lvl="1">
              <a:lnSpc>
                <a:spcPts val="2894"/>
              </a:lnSpc>
              <a:buFont typeface="Arial"/>
              <a:buChar char="•"/>
            </a:pPr>
            <a:r>
              <a:rPr lang="en-US" sz="2226">
                <a:solidFill>
                  <a:srgbClr val="231F20"/>
                </a:solidFill>
                <a:latin typeface="Garet"/>
                <a:ea typeface="Garet"/>
                <a:cs typeface="Garet"/>
                <a:sym typeface="Garet"/>
              </a:rPr>
              <a:t>Churn (represented by red dots) is concentrated among customers with lower </a:t>
            </a:r>
            <a:r>
              <a:rPr lang="en-US" sz="2226">
                <a:solidFill>
                  <a:srgbClr val="231F20"/>
                </a:solidFill>
                <a:latin typeface="Garet"/>
                <a:ea typeface="Garet"/>
                <a:cs typeface="Garet"/>
                <a:sym typeface="Garet"/>
              </a:rPr>
              <a:t>antiquity (1–4 years).</a:t>
            </a:r>
          </a:p>
          <a:p>
            <a:pPr algn="l">
              <a:lnSpc>
                <a:spcPts val="2894"/>
              </a:lnSpc>
            </a:pPr>
          </a:p>
          <a:p>
            <a:pPr algn="l" marL="480660" indent="-240330" lvl="1">
              <a:lnSpc>
                <a:spcPts val="2894"/>
              </a:lnSpc>
              <a:buFont typeface="Arial"/>
              <a:buChar char="•"/>
            </a:pPr>
            <a:r>
              <a:rPr lang="en-US" sz="2226">
                <a:solidFill>
                  <a:srgbClr val="231F20"/>
                </a:solidFill>
                <a:latin typeface="Garet"/>
                <a:ea typeface="Garet"/>
                <a:cs typeface="Garet"/>
                <a:sym typeface="Garet"/>
              </a:rPr>
              <a:t>Few high-margin customers are present, and churn is rare among this group, except for an outlier.</a:t>
            </a:r>
          </a:p>
        </p:txBody>
      </p:sp>
      <p:sp>
        <p:nvSpPr>
          <p:cNvPr name="AutoShape 13" id="13"/>
          <p:cNvSpPr/>
          <p:nvPr/>
        </p:nvSpPr>
        <p:spPr>
          <a:xfrm>
            <a:off x="5925614" y="1428209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79722" y="-4950359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6"/>
                </a:lnTo>
                <a:lnTo>
                  <a:pt x="0" y="78154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4176364">
            <a:off x="-4105129" y="6530238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6"/>
                </a:lnTo>
                <a:lnTo>
                  <a:pt x="0" y="78154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691264" y="2208425"/>
            <a:ext cx="12905472" cy="4278634"/>
          </a:xfrm>
          <a:custGeom>
            <a:avLst/>
            <a:gdLst/>
            <a:ahLst/>
            <a:cxnLst/>
            <a:rect r="r" b="b" t="t" l="l"/>
            <a:pathLst>
              <a:path h="4278634" w="12905472">
                <a:moveTo>
                  <a:pt x="0" y="0"/>
                </a:moveTo>
                <a:lnTo>
                  <a:pt x="12905472" y="0"/>
                </a:lnTo>
                <a:lnTo>
                  <a:pt x="12905472" y="4278633"/>
                </a:lnTo>
                <a:lnTo>
                  <a:pt x="0" y="42786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367511" y="572041"/>
            <a:ext cx="11552977" cy="837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65"/>
              </a:lnSpc>
            </a:pPr>
            <a:r>
              <a:rPr lang="en-US" b="true" sz="5047" spc="267">
                <a:solidFill>
                  <a:srgbClr val="231F20"/>
                </a:solidFill>
                <a:latin typeface="Garet Bold"/>
                <a:ea typeface="Garet Bold"/>
                <a:cs typeface="Garet Bold"/>
                <a:sym typeface="Garet Bold"/>
              </a:rPr>
              <a:t>GRAPHICAL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7501" y="9184651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612"/>
              </a:lnSpc>
              <a:spcBef>
                <a:spcPct val="0"/>
              </a:spcBef>
            </a:pPr>
            <a:r>
              <a:rPr lang="en-US" b="true" sz="3294">
                <a:solidFill>
                  <a:srgbClr val="231F20"/>
                </a:solidFill>
                <a:latin typeface="Garet Bold"/>
                <a:ea typeface="Garet Bold"/>
                <a:cs typeface="Garet Bold"/>
                <a:sym typeface="Garet Bold"/>
              </a:rPr>
              <a:t>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79273" y="7096658"/>
            <a:ext cx="11329454" cy="1800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0660" indent="-240330" lvl="1">
              <a:lnSpc>
                <a:spcPts val="2894"/>
              </a:lnSpc>
              <a:buFont typeface="Arial"/>
              <a:buChar char="•"/>
            </a:pPr>
            <a:r>
              <a:rPr lang="en-US" sz="2226">
                <a:solidFill>
                  <a:srgbClr val="231F20"/>
                </a:solidFill>
                <a:latin typeface="Garet"/>
                <a:ea typeface="Garet"/>
                <a:cs typeface="Garet"/>
                <a:sym typeface="Garet"/>
              </a:rPr>
              <a:t>Churned customers consistently faced higher peak, off-peak and mid-peak energy prices than retained </a:t>
            </a:r>
            <a:r>
              <a:rPr lang="en-US" sz="2226">
                <a:solidFill>
                  <a:srgbClr val="231F20"/>
                </a:solidFill>
                <a:latin typeface="Garet"/>
                <a:ea typeface="Garet"/>
                <a:cs typeface="Garet"/>
                <a:sym typeface="Garet"/>
              </a:rPr>
              <a:t>customers.</a:t>
            </a:r>
          </a:p>
          <a:p>
            <a:pPr algn="l">
              <a:lnSpc>
                <a:spcPts val="2894"/>
              </a:lnSpc>
            </a:pPr>
          </a:p>
          <a:p>
            <a:pPr algn="l" marL="480660" indent="-240330" lvl="1">
              <a:lnSpc>
                <a:spcPts val="2894"/>
              </a:lnSpc>
              <a:buFont typeface="Arial"/>
              <a:buChar char="•"/>
            </a:pPr>
            <a:r>
              <a:rPr lang="en-US" sz="2226">
                <a:solidFill>
                  <a:srgbClr val="231F20"/>
                </a:solidFill>
                <a:latin typeface="Garet"/>
                <a:ea typeface="Garet"/>
                <a:cs typeface="Garet"/>
                <a:sym typeface="Garet"/>
              </a:rPr>
              <a:t>C</a:t>
            </a:r>
            <a:r>
              <a:rPr lang="en-US" sz="2226">
                <a:solidFill>
                  <a:srgbClr val="231F20"/>
                </a:solidFill>
                <a:latin typeface="Garet"/>
                <a:ea typeface="Garet"/>
                <a:cs typeface="Garet"/>
                <a:sym typeface="Garet"/>
              </a:rPr>
              <a:t>hurned customers experienced a steeper decline in off-peak, which could indicate dissatisfaction with prior price hikes.</a:t>
            </a:r>
          </a:p>
        </p:txBody>
      </p:sp>
      <p:sp>
        <p:nvSpPr>
          <p:cNvPr name="AutoShape 9" id="9"/>
          <p:cNvSpPr/>
          <p:nvPr/>
        </p:nvSpPr>
        <p:spPr>
          <a:xfrm>
            <a:off x="5897880" y="1428209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79722" y="-4950359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6"/>
                </a:lnTo>
                <a:lnTo>
                  <a:pt x="0" y="78154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4176364">
            <a:off x="-4105129" y="6530238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6"/>
                </a:lnTo>
                <a:lnTo>
                  <a:pt x="0" y="78154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308698" y="2026203"/>
            <a:ext cx="11500029" cy="4596863"/>
          </a:xfrm>
          <a:custGeom>
            <a:avLst/>
            <a:gdLst/>
            <a:ahLst/>
            <a:cxnLst/>
            <a:rect r="r" b="b" t="t" l="l"/>
            <a:pathLst>
              <a:path h="4596863" w="11500029">
                <a:moveTo>
                  <a:pt x="0" y="0"/>
                </a:moveTo>
                <a:lnTo>
                  <a:pt x="11500029" y="0"/>
                </a:lnTo>
                <a:lnTo>
                  <a:pt x="11500029" y="4596863"/>
                </a:lnTo>
                <a:lnTo>
                  <a:pt x="0" y="45968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367511" y="572041"/>
            <a:ext cx="11552977" cy="837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65"/>
              </a:lnSpc>
            </a:pPr>
            <a:r>
              <a:rPr lang="en-US" b="true" sz="5047" spc="267">
                <a:solidFill>
                  <a:srgbClr val="231F20"/>
                </a:solidFill>
                <a:latin typeface="Garet Bold"/>
                <a:ea typeface="Garet Bold"/>
                <a:cs typeface="Garet Bold"/>
                <a:sym typeface="Garet Bold"/>
              </a:rPr>
              <a:t>GRAPHICAL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7501" y="9184651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612"/>
              </a:lnSpc>
              <a:spcBef>
                <a:spcPct val="0"/>
              </a:spcBef>
            </a:pPr>
            <a:r>
              <a:rPr lang="en-US" b="true" sz="3294">
                <a:solidFill>
                  <a:srgbClr val="231F20"/>
                </a:solidFill>
                <a:latin typeface="Garet Bold"/>
                <a:ea typeface="Garet Bold"/>
                <a:cs typeface="Garet Bold"/>
                <a:sym typeface="Garet Bold"/>
              </a:rPr>
              <a:t>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79273" y="6862291"/>
            <a:ext cx="11329454" cy="2886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0660" indent="-240330" lvl="1">
              <a:lnSpc>
                <a:spcPts val="2894"/>
              </a:lnSpc>
              <a:buFont typeface="Arial"/>
              <a:buChar char="•"/>
            </a:pPr>
            <a:r>
              <a:rPr lang="en-US" sz="2226">
                <a:solidFill>
                  <a:srgbClr val="231F20"/>
                </a:solidFill>
                <a:latin typeface="Garet"/>
                <a:ea typeface="Garet"/>
                <a:cs typeface="Garet"/>
                <a:sym typeface="Garet"/>
              </a:rPr>
              <a:t>May (~235,516 kWh) has the highest electricity consumption, likely driven </a:t>
            </a:r>
            <a:r>
              <a:rPr lang="en-US" sz="2226">
                <a:solidFill>
                  <a:srgbClr val="231F20"/>
                </a:solidFill>
                <a:latin typeface="Garet"/>
                <a:ea typeface="Garet"/>
                <a:cs typeface="Garet"/>
                <a:sym typeface="Garet"/>
              </a:rPr>
              <a:t>by increased cooling needs in warmer months.</a:t>
            </a:r>
          </a:p>
          <a:p>
            <a:pPr algn="l">
              <a:lnSpc>
                <a:spcPts val="2894"/>
              </a:lnSpc>
            </a:pPr>
          </a:p>
          <a:p>
            <a:pPr algn="l" marL="480660" indent="-240330" lvl="1">
              <a:lnSpc>
                <a:spcPts val="2894"/>
              </a:lnSpc>
              <a:buFont typeface="Arial"/>
              <a:buChar char="•"/>
            </a:pPr>
            <a:r>
              <a:rPr lang="en-US" sz="2226">
                <a:solidFill>
                  <a:srgbClr val="231F20"/>
                </a:solidFill>
                <a:latin typeface="Garet"/>
                <a:ea typeface="Garet"/>
                <a:cs typeface="Garet"/>
                <a:sym typeface="Garet"/>
              </a:rPr>
              <a:t>November (~43,545 m³) reflects the highest gas consumption, aligning with heating demands during colder months.</a:t>
            </a:r>
          </a:p>
          <a:p>
            <a:pPr algn="l">
              <a:lnSpc>
                <a:spcPts val="2894"/>
              </a:lnSpc>
            </a:pPr>
          </a:p>
          <a:p>
            <a:pPr algn="l" marL="480660" indent="-240330" lvl="1">
              <a:lnSpc>
                <a:spcPts val="2894"/>
              </a:lnSpc>
              <a:buFont typeface="Arial"/>
              <a:buChar char="•"/>
            </a:pPr>
            <a:r>
              <a:rPr lang="en-US" sz="2226">
                <a:solidFill>
                  <a:srgbClr val="231F20"/>
                </a:solidFill>
                <a:latin typeface="Garet"/>
                <a:ea typeface="Garet"/>
                <a:cs typeface="Garet"/>
                <a:sym typeface="Garet"/>
              </a:rPr>
              <a:t>December (~$154.20 per customer) has the lowest margins, likely due to increased costs during the holiday season or pricing inefficiencies.</a:t>
            </a:r>
          </a:p>
        </p:txBody>
      </p:sp>
      <p:sp>
        <p:nvSpPr>
          <p:cNvPr name="AutoShape 9" id="9"/>
          <p:cNvSpPr/>
          <p:nvPr/>
        </p:nvSpPr>
        <p:spPr>
          <a:xfrm>
            <a:off x="5897880" y="1428209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119643" y="-14250963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3"/>
                </a:lnTo>
                <a:lnTo>
                  <a:pt x="0" y="162556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15324" y="552450"/>
            <a:ext cx="12057353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00"/>
              </a:lnSpc>
            </a:pPr>
            <a:r>
              <a:rPr lang="en-US" b="true" sz="5000" spc="49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GRAPHICAL ANALYSIS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722210" y="5920223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3"/>
                </a:lnTo>
                <a:lnTo>
                  <a:pt x="0" y="162556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57880" y="2655772"/>
            <a:ext cx="8933882" cy="6317785"/>
          </a:xfrm>
          <a:custGeom>
            <a:avLst/>
            <a:gdLst/>
            <a:ahLst/>
            <a:cxnLst/>
            <a:rect r="r" b="b" t="t" l="l"/>
            <a:pathLst>
              <a:path h="6317785" w="8933882">
                <a:moveTo>
                  <a:pt x="0" y="0"/>
                </a:moveTo>
                <a:lnTo>
                  <a:pt x="8933882" y="0"/>
                </a:lnTo>
                <a:lnTo>
                  <a:pt x="8933882" y="6317785"/>
                </a:lnTo>
                <a:lnTo>
                  <a:pt x="0" y="6317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631722" y="2987995"/>
            <a:ext cx="8358940" cy="2654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571" indent="-237286" lvl="1">
              <a:lnSpc>
                <a:spcPts val="3033"/>
              </a:lnSpc>
              <a:buFont typeface="Arial"/>
              <a:buChar char="•"/>
            </a:pPr>
            <a:r>
              <a:rPr lang="en-US" b="true" sz="2198" spc="215">
                <a:solidFill>
                  <a:srgbClr val="F5FFF5"/>
                </a:solidFill>
                <a:latin typeface="Garet Bold"/>
                <a:ea typeface="Garet Bold"/>
                <a:cs typeface="Garet Bold"/>
                <a:sym typeface="Garet Bold"/>
              </a:rPr>
              <a:t>cons_12m</a:t>
            </a:r>
            <a:r>
              <a:rPr lang="en-US" sz="2198" spc="215">
                <a:solidFill>
                  <a:srgbClr val="F5FFF5"/>
                </a:solidFill>
                <a:latin typeface="Garet"/>
                <a:ea typeface="Garet"/>
                <a:cs typeface="Garet"/>
                <a:sym typeface="Garet"/>
              </a:rPr>
              <a:t>: Annual electricity consumption is the strongest predictor of churn, </a:t>
            </a:r>
            <a:r>
              <a:rPr lang="en-US" sz="2198" spc="215">
                <a:solidFill>
                  <a:srgbClr val="F5FFF5"/>
                </a:solidFill>
                <a:latin typeface="Garet"/>
                <a:ea typeface="Garet"/>
                <a:cs typeface="Garet"/>
                <a:sym typeface="Garet"/>
              </a:rPr>
              <a:t>highlighting long-term usage patterns as critical.</a:t>
            </a:r>
          </a:p>
          <a:p>
            <a:pPr algn="l">
              <a:lnSpc>
                <a:spcPts val="3033"/>
              </a:lnSpc>
            </a:pPr>
          </a:p>
          <a:p>
            <a:pPr algn="l" marL="474571" indent="-237286" lvl="1">
              <a:lnSpc>
                <a:spcPts val="3033"/>
              </a:lnSpc>
              <a:buFont typeface="Arial"/>
              <a:buChar char="•"/>
            </a:pPr>
            <a:r>
              <a:rPr lang="en-US" b="true" sz="2198" spc="215">
                <a:solidFill>
                  <a:srgbClr val="F5FFF5"/>
                </a:solidFill>
                <a:latin typeface="Garet Bold"/>
                <a:ea typeface="Garet Bold"/>
                <a:cs typeface="Garet Bold"/>
                <a:sym typeface="Garet Bold"/>
              </a:rPr>
              <a:t>net_margin</a:t>
            </a:r>
            <a:r>
              <a:rPr lang="en-US" sz="2198" spc="215">
                <a:solidFill>
                  <a:srgbClr val="F5FFF5"/>
                </a:solidFill>
                <a:latin typeface="Garet"/>
                <a:ea typeface="Garet"/>
                <a:cs typeface="Garet"/>
                <a:sym typeface="Garet"/>
              </a:rPr>
              <a:t>: Low net margins strongly correlate with churn, emphasizing the importance of profitability.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7501" y="9184651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612"/>
              </a:lnSpc>
              <a:spcBef>
                <a:spcPct val="0"/>
              </a:spcBef>
            </a:pPr>
            <a:r>
              <a:rPr lang="en-US" b="true" sz="3294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8</a:t>
            </a:r>
          </a:p>
        </p:txBody>
      </p:sp>
      <p:sp>
        <p:nvSpPr>
          <p:cNvPr name="AutoShape 8" id="8"/>
          <p:cNvSpPr/>
          <p:nvPr/>
        </p:nvSpPr>
        <p:spPr>
          <a:xfrm>
            <a:off x="5897880" y="1428209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119643" y="-14250963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3"/>
                </a:lnTo>
                <a:lnTo>
                  <a:pt x="0" y="162556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15324" y="552450"/>
            <a:ext cx="12057353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00"/>
              </a:lnSpc>
            </a:pPr>
            <a:r>
              <a:rPr lang="en-US" b="true" sz="5000" spc="490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RESULTS AND FINDINGS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407768" y="-1028792"/>
            <a:ext cx="15841853" cy="16255633"/>
          </a:xfrm>
          <a:custGeom>
            <a:avLst/>
            <a:gdLst/>
            <a:ahLst/>
            <a:cxnLst/>
            <a:rect r="r" b="b" t="t" l="l"/>
            <a:pathLst>
              <a:path h="16255633" w="15841853">
                <a:moveTo>
                  <a:pt x="0" y="0"/>
                </a:moveTo>
                <a:lnTo>
                  <a:pt x="15841853" y="0"/>
                </a:lnTo>
                <a:lnTo>
                  <a:pt x="15841853" y="16255633"/>
                </a:lnTo>
                <a:lnTo>
                  <a:pt x="0" y="162556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33590" y="2405475"/>
            <a:ext cx="15220820" cy="6845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571" indent="-237286" lvl="1">
              <a:lnSpc>
                <a:spcPts val="3033"/>
              </a:lnSpc>
              <a:buFont typeface="Arial"/>
              <a:buChar char="•"/>
            </a:pPr>
            <a:r>
              <a:rPr lang="en-US" b="true" sz="2198" spc="215">
                <a:solidFill>
                  <a:srgbClr val="F5FFF5"/>
                </a:solidFill>
                <a:latin typeface="Garet Bold"/>
                <a:ea typeface="Garet Bold"/>
                <a:cs typeface="Garet Bold"/>
                <a:sym typeface="Garet Bold"/>
              </a:rPr>
              <a:t>Churn Rate</a:t>
            </a:r>
            <a:r>
              <a:rPr lang="en-US" sz="2198" spc="215">
                <a:solidFill>
                  <a:srgbClr val="F5FFF5"/>
                </a:solidFill>
                <a:latin typeface="Garet"/>
                <a:ea typeface="Garet"/>
                <a:cs typeface="Garet"/>
                <a:sym typeface="Garet"/>
              </a:rPr>
              <a:t>: 9.7% of customers churned, with high churn observed among newer </a:t>
            </a:r>
            <a:r>
              <a:rPr lang="en-US" sz="2198" spc="215">
                <a:solidFill>
                  <a:srgbClr val="F5FFF5"/>
                </a:solidFill>
                <a:latin typeface="Garet"/>
                <a:ea typeface="Garet"/>
                <a:cs typeface="Garet"/>
                <a:sym typeface="Garet"/>
              </a:rPr>
              <a:t>customers (1–4 years of tenure).</a:t>
            </a:r>
          </a:p>
          <a:p>
            <a:pPr algn="l">
              <a:lnSpc>
                <a:spcPts val="3033"/>
              </a:lnSpc>
            </a:pPr>
          </a:p>
          <a:p>
            <a:pPr algn="l" marL="474571" indent="-237286" lvl="1">
              <a:lnSpc>
                <a:spcPts val="3033"/>
              </a:lnSpc>
              <a:buFont typeface="Arial"/>
              <a:buChar char="•"/>
            </a:pPr>
            <a:r>
              <a:rPr lang="en-US" b="true" sz="2198" spc="215">
                <a:solidFill>
                  <a:srgbClr val="F5FFF5"/>
                </a:solidFill>
                <a:latin typeface="Garet Bold"/>
                <a:ea typeface="Garet Bold"/>
                <a:cs typeface="Garet Bold"/>
                <a:sym typeface="Garet Bold"/>
              </a:rPr>
              <a:t>Sales Channels</a:t>
            </a:r>
            <a:r>
              <a:rPr lang="en-US" sz="2198" spc="215">
                <a:solidFill>
                  <a:srgbClr val="F5FFF5"/>
                </a:solidFill>
                <a:latin typeface="Garet"/>
                <a:ea typeface="Garet"/>
                <a:cs typeface="Garet"/>
                <a:sym typeface="Garet"/>
              </a:rPr>
              <a:t>: Specific channels, like "foosdfpfkusacimwkcsosbicdxkicaua", exhibit the highest churn rate (12.14%), indicating service or engagement issues.</a:t>
            </a:r>
          </a:p>
          <a:p>
            <a:pPr algn="l">
              <a:lnSpc>
                <a:spcPts val="3033"/>
              </a:lnSpc>
            </a:pPr>
          </a:p>
          <a:p>
            <a:pPr algn="l" marL="474571" indent="-237286" lvl="1">
              <a:lnSpc>
                <a:spcPts val="3033"/>
              </a:lnSpc>
              <a:buFont typeface="Arial"/>
              <a:buChar char="•"/>
            </a:pPr>
            <a:r>
              <a:rPr lang="en-US" b="true" sz="2198" spc="215">
                <a:solidFill>
                  <a:srgbClr val="F5FFF5"/>
                </a:solidFill>
                <a:latin typeface="Garet Bold"/>
                <a:ea typeface="Garet Bold"/>
                <a:cs typeface="Garet Bold"/>
                <a:sym typeface="Garet Bold"/>
              </a:rPr>
              <a:t>Higher Prices for Churned Customers</a:t>
            </a:r>
            <a:r>
              <a:rPr lang="en-US" sz="2198" spc="215">
                <a:solidFill>
                  <a:srgbClr val="F5FFF5"/>
                </a:solidFill>
                <a:latin typeface="Garet"/>
                <a:ea typeface="Garet"/>
                <a:cs typeface="Garet"/>
                <a:sym typeface="Garet"/>
              </a:rPr>
              <a:t>: Churned customers faced consistently higher and more volatile energy prices, particularly during peak and mid-peak periods.</a:t>
            </a:r>
          </a:p>
          <a:p>
            <a:pPr algn="l">
              <a:lnSpc>
                <a:spcPts val="3033"/>
              </a:lnSpc>
            </a:pPr>
          </a:p>
          <a:p>
            <a:pPr algn="l" marL="474571" indent="-237286" lvl="1">
              <a:lnSpc>
                <a:spcPts val="3033"/>
              </a:lnSpc>
              <a:buFont typeface="Arial"/>
              <a:buChar char="•"/>
            </a:pPr>
            <a:r>
              <a:rPr lang="en-US" sz="2198" spc="215">
                <a:solidFill>
                  <a:srgbClr val="F5FFF5"/>
                </a:solidFill>
                <a:latin typeface="Garet"/>
                <a:ea typeface="Garet"/>
                <a:cs typeface="Garet"/>
                <a:sym typeface="Garet"/>
              </a:rPr>
              <a:t>Retained customers tend to have longer tenures (5+ years) and higher net margins.</a:t>
            </a:r>
          </a:p>
          <a:p>
            <a:pPr algn="l">
              <a:lnSpc>
                <a:spcPts val="3033"/>
              </a:lnSpc>
            </a:pPr>
          </a:p>
          <a:p>
            <a:pPr algn="l" marL="474571" indent="-237286" lvl="1">
              <a:lnSpc>
                <a:spcPts val="3033"/>
              </a:lnSpc>
              <a:buFont typeface="Arial"/>
              <a:buChar char="•"/>
            </a:pPr>
            <a:r>
              <a:rPr lang="en-US" sz="2198" spc="215">
                <a:solidFill>
                  <a:srgbClr val="F5FFF5"/>
                </a:solidFill>
                <a:latin typeface="Garet"/>
                <a:ea typeface="Garet"/>
                <a:cs typeface="Garet"/>
                <a:sym typeface="Garet"/>
              </a:rPr>
              <a:t>Churn is more prevalent among customers with lower net margins (~$0–$500).</a:t>
            </a:r>
          </a:p>
          <a:p>
            <a:pPr algn="l">
              <a:lnSpc>
                <a:spcPts val="3033"/>
              </a:lnSpc>
            </a:pPr>
          </a:p>
          <a:p>
            <a:pPr algn="l" marL="474571" indent="-237286" lvl="1">
              <a:lnSpc>
                <a:spcPts val="3033"/>
              </a:lnSpc>
              <a:buFont typeface="Arial"/>
              <a:buChar char="•"/>
            </a:pPr>
            <a:r>
              <a:rPr lang="en-US" sz="2198" spc="215">
                <a:solidFill>
                  <a:srgbClr val="F5FFF5"/>
                </a:solidFill>
                <a:latin typeface="Garet"/>
                <a:ea typeface="Garet"/>
                <a:cs typeface="Garet"/>
                <a:sym typeface="Garet"/>
              </a:rPr>
              <a:t>Feature importance analysis revealed that net margin, electricity consumption over 12 months, and time-related variables (e.g., tenure, months to contract renewal) were the strongest churn predictors.</a:t>
            </a:r>
          </a:p>
          <a:p>
            <a:pPr algn="l">
              <a:lnSpc>
                <a:spcPts val="3033"/>
              </a:lnSpc>
            </a:pPr>
          </a:p>
          <a:p>
            <a:pPr algn="l" marL="474571" indent="-237286" lvl="1">
              <a:lnSpc>
                <a:spcPts val="3033"/>
              </a:lnSpc>
              <a:buFont typeface="Arial"/>
              <a:buChar char="•"/>
            </a:pPr>
            <a:r>
              <a:rPr lang="en-US" sz="2198" spc="215">
                <a:solidFill>
                  <a:srgbClr val="F5FFF5"/>
                </a:solidFill>
                <a:latin typeface="Garet"/>
                <a:ea typeface="Garet"/>
                <a:cs typeface="Garet"/>
                <a:sym typeface="Garet"/>
              </a:rPr>
              <a:t>Pricing sensitivity, while contributing to churn, was not a primary driver.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7501" y="9184651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612"/>
              </a:lnSpc>
              <a:spcBef>
                <a:spcPct val="0"/>
              </a:spcBef>
            </a:pPr>
            <a:r>
              <a:rPr lang="en-US" b="true" sz="3294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9</a:t>
            </a:r>
          </a:p>
        </p:txBody>
      </p:sp>
      <p:sp>
        <p:nvSpPr>
          <p:cNvPr name="AutoShape 7" id="7"/>
          <p:cNvSpPr/>
          <p:nvPr/>
        </p:nvSpPr>
        <p:spPr>
          <a:xfrm>
            <a:off x="5897880" y="1428750"/>
            <a:ext cx="649224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257863">
            <a:off x="-316287" y="7436826"/>
            <a:ext cx="21273218" cy="9128145"/>
          </a:xfrm>
          <a:custGeom>
            <a:avLst/>
            <a:gdLst/>
            <a:ahLst/>
            <a:cxnLst/>
            <a:rect r="r" b="b" t="t" l="l"/>
            <a:pathLst>
              <a:path h="9128145" w="21273218">
                <a:moveTo>
                  <a:pt x="0" y="9128145"/>
                </a:moveTo>
                <a:lnTo>
                  <a:pt x="21273218" y="9128145"/>
                </a:lnTo>
                <a:lnTo>
                  <a:pt x="21273218" y="0"/>
                </a:lnTo>
                <a:lnTo>
                  <a:pt x="0" y="0"/>
                </a:lnTo>
                <a:lnTo>
                  <a:pt x="0" y="9128145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335030" y="662678"/>
            <a:ext cx="1361794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00"/>
              </a:lnSpc>
              <a:spcBef>
                <a:spcPct val="0"/>
              </a:spcBef>
            </a:pPr>
            <a:r>
              <a:rPr lang="en-US" b="true" sz="5000" spc="490">
                <a:solidFill>
                  <a:srgbClr val="231F20"/>
                </a:solidFill>
                <a:latin typeface="Garet Bold"/>
                <a:ea typeface="Garet Bold"/>
                <a:cs typeface="Garet Bold"/>
                <a:sym typeface="Garet Bold"/>
              </a:rPr>
              <a:t>RECOMMENDATIONS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7501" y="9184651"/>
            <a:ext cx="152400" cy="21907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612"/>
              </a:lnSpc>
              <a:spcBef>
                <a:spcPct val="0"/>
              </a:spcBef>
            </a:pPr>
            <a:r>
              <a:rPr lang="en-US" b="true" sz="3294">
                <a:solidFill>
                  <a:srgbClr val="231F20"/>
                </a:solidFill>
                <a:latin typeface="Garet Bold"/>
                <a:ea typeface="Garet Bold"/>
                <a:cs typeface="Garet Bold"/>
                <a:sym typeface="Garet Bold"/>
              </a:rPr>
              <a:t>10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63139" y="2155545"/>
            <a:ext cx="14561722" cy="5449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31F20"/>
                </a:solidFill>
                <a:latin typeface="Garet"/>
                <a:ea typeface="Garet"/>
                <a:cs typeface="Garet"/>
                <a:sym typeface="Garet"/>
              </a:rPr>
              <a:t>Stabilize pricing and offer tailored discounts to price-sensitive </a:t>
            </a:r>
            <a:r>
              <a:rPr lang="en-US" sz="2199">
                <a:solidFill>
                  <a:srgbClr val="231F20"/>
                </a:solidFill>
                <a:latin typeface="Garet"/>
                <a:ea typeface="Garet"/>
                <a:cs typeface="Garet"/>
                <a:sym typeface="Garet"/>
              </a:rPr>
              <a:t>customers, particularly during critical periods of usage spikes.</a:t>
            </a:r>
          </a:p>
          <a:p>
            <a:pPr algn="just">
              <a:lnSpc>
                <a:spcPts val="3079"/>
              </a:lnSpc>
            </a:pP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31F20"/>
                </a:solidFill>
                <a:latin typeface="Garet"/>
                <a:ea typeface="Garet"/>
                <a:cs typeface="Garet"/>
                <a:sym typeface="Garet"/>
              </a:rPr>
              <a:t>Capitalize on summer peaks with dynamic pricing strategies and promotional campaigns to drive engagement and retention.</a:t>
            </a:r>
          </a:p>
          <a:p>
            <a:pPr algn="just">
              <a:lnSpc>
                <a:spcPts val="3079"/>
              </a:lnSpc>
            </a:pP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31F20"/>
                </a:solidFill>
                <a:latin typeface="Garet"/>
                <a:ea typeface="Garet"/>
                <a:cs typeface="Garet"/>
                <a:sym typeface="Garet"/>
              </a:rPr>
              <a:t>Bundle gas and electricity plans during complementary seasons to smooth revenue fluctuations and increase cross-utility sales.</a:t>
            </a:r>
          </a:p>
          <a:p>
            <a:pPr algn="just">
              <a:lnSpc>
                <a:spcPts val="3079"/>
              </a:lnSpc>
            </a:pP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31F20"/>
                </a:solidFill>
                <a:latin typeface="Garet"/>
                <a:ea typeface="Garet"/>
                <a:cs typeface="Garet"/>
                <a:sym typeface="Garet"/>
              </a:rPr>
              <a:t>Investigate underperforming channels, replicate strategies from successful ones, and standardize engagement practices across all channels.</a:t>
            </a:r>
          </a:p>
          <a:p>
            <a:pPr algn="just">
              <a:lnSpc>
                <a:spcPts val="3079"/>
              </a:lnSpc>
            </a:pP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31F20"/>
                </a:solidFill>
                <a:latin typeface="Garet"/>
                <a:ea typeface="Garet"/>
                <a:cs typeface="Garet"/>
                <a:sym typeface="Garet"/>
              </a:rPr>
              <a:t>Use the top predictors to refine customer segmentation, focusing retention efforts on high-risk, high-value customers.</a:t>
            </a:r>
          </a:p>
        </p:txBody>
      </p:sp>
      <p:sp>
        <p:nvSpPr>
          <p:cNvPr name="AutoShape 7" id="7"/>
          <p:cNvSpPr/>
          <p:nvPr/>
        </p:nvSpPr>
        <p:spPr>
          <a:xfrm>
            <a:off x="5897880" y="1538978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DAGXqOqtFOA</dc:identifier>
  <dcterms:modified xsi:type="dcterms:W3CDTF">2011-08-01T06:04:30Z</dcterms:modified>
  <cp:revision>1</cp:revision>
  <dc:title>Grey minimalist business project presentation </dc:title>
</cp:coreProperties>
</file>